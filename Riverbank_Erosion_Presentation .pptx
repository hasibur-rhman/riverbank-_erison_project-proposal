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LtuVV57wbt25g+DuWzC6RB2QR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3A5F"/>
                </a:solidFill>
                <a:latin typeface="+mn-lt"/>
              </a:rPr>
              <a:t>Cumulative land eroded by river (hectares, ~5 decades)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Eroded (ha)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7C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7C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Jamuna</c:v>
                  </c:pt>
                  <c:pt idx="1">
                    <c:v>Padma</c:v>
                  </c:pt>
                  <c:pt idx="2">
                    <c:v>Ganges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94220</c:v>
                </c:pt>
                <c:pt idx="1">
                  <c:v>33843</c:v>
                </c:pt>
                <c:pt idx="2">
                  <c:v>30290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3A5F"/>
                </a:solidFill>
                <a:latin typeface="+mn-lt"/>
              </a:rPr>
              <a:t>Estimated land lost to rivers per year (hectares)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ha/year</c:v>
                </c:pt>
              </c:strCache>
            </c:strRef>
          </c:tx>
          <c:spPr>
            <a:solidFill>
              <a:srgbClr val="2E7D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7C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7C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B7C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Reported 2025</c:v>
                  </c:pt>
                  <c:pt idx="1">
                    <c:v>CEGIS, all rivers*</c:v>
                  </c:pt>
                  <c:pt idx="2">
                    <c:v>IFRC (2001)</c:v>
                  </c:pt>
                  <c:pt idx="3">
                    <c:v>NWMP (2001)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1034</c:v>
                </c:pt>
                <c:pt idx="1">
                  <c:v>5500</c:v>
                </c:pt>
                <c:pt idx="2">
                  <c:v>9000</c:v>
                </c:pt>
                <c:pt idx="3">
                  <c:v>10000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DARK">
  <p:cSld name="TITLE_DARK">
    <p:bg>
      <p:bgPr>
        <a:solidFill>
          <a:srgbClr val="1F3A5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18"/>
          <p:cNvCxnSpPr/>
          <p:nvPr/>
        </p:nvCxnSpPr>
        <p:spPr>
          <a:xfrm>
            <a:off x="640080" y="2743200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7FB5B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19"/>
          <p:cNvCxnSpPr/>
          <p:nvPr/>
        </p:nvCxnSpPr>
        <p:spPr>
          <a:xfrm>
            <a:off x="457200" y="9144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640080" y="914400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AI-Powered Riverbank Erosion Risk Prediction and Early Warning System for Bangladesh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40080" y="2971800"/>
            <a:ext cx="78638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Course code : </a:t>
            </a: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SE-331  |  Section : 41 E1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Hasib ur Rahman (232-35-590)    </a:t>
            </a:r>
            <a:endParaRPr b="0" i="0" sz="14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Dhroubo Jyoti Mondal (232-35-182)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Masoud Ibna Mostofa (232-35-551)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Riverbank erosion: a silent, recurring disaster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188720"/>
            <a:ext cx="1938528" cy="182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 txBox="1"/>
          <p:nvPr/>
        </p:nvSpPr>
        <p:spPr>
          <a:xfrm>
            <a:off x="594360" y="1371600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50k–200k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594360" y="1965960"/>
            <a:ext cx="1691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displaced by bank erosion each year (Univ. of Dhaka / Sussex, 2013)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578608" y="1188720"/>
            <a:ext cx="1938528" cy="182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2715768" y="1371600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≈ 1 million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2715768" y="1965960"/>
            <a:ext cx="1691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affected by riverbank erosion every year (IFRC, 2001)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00016" y="1188720"/>
            <a:ext cx="1938528" cy="182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 txBox="1"/>
          <p:nvPr/>
        </p:nvSpPr>
        <p:spPr>
          <a:xfrm>
            <a:off x="4837176" y="1371600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5–10k ha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4837176" y="1965960"/>
            <a:ext cx="1691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land lost to rivers per year; estimates vary by 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821424" y="1188720"/>
            <a:ext cx="1938528" cy="182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6958584" y="1371600"/>
            <a:ext cx="1691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386+ houses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6958584" y="1965960"/>
            <a:ext cx="1691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washed away along the Teesta in one week, Sept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57200" y="3291840"/>
            <a:ext cx="64008" cy="128016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 txBox="1"/>
          <p:nvPr/>
        </p:nvSpPr>
        <p:spPr>
          <a:xfrm>
            <a:off x="777240" y="33832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Officials call it a “silent cancer”: </a:t>
            </a:r>
            <a:r>
              <a:rPr b="0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it can hurt more than floods or storms because collapse takes minutes and families lose land and belongings together. Protection such as geo-bags is mostly reactive.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457200" y="481888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>
            <p:ph idx="4294967295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Where the land goes: the Jamuna dominates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" name="Google Shape;53;p3"/>
          <p:cNvGraphicFramePr/>
          <p:nvPr/>
        </p:nvGraphicFramePr>
        <p:xfrm>
          <a:off x="457200" y="1051560"/>
          <a:ext cx="5212080" cy="36118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4" name="Google Shape;54;p3"/>
          <p:cNvSpPr/>
          <p:nvPr/>
        </p:nvSpPr>
        <p:spPr>
          <a:xfrm>
            <a:off x="5943600" y="1143000"/>
            <a:ext cx="2743200" cy="10515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 txBox="1"/>
          <p:nvPr/>
        </p:nvSpPr>
        <p:spPr>
          <a:xfrm>
            <a:off x="6080760" y="123444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≈ 59%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6080760" y="167335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total eroded land is Jamuna’s (94,220 of 158,353 ha)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943600" y="2331720"/>
            <a:ext cx="2743200" cy="10515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 txBox="1"/>
          <p:nvPr/>
        </p:nvSpPr>
        <p:spPr>
          <a:xfrm>
            <a:off x="6080760" y="242316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14,955 ha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 txBox="1"/>
          <p:nvPr/>
        </p:nvSpPr>
        <p:spPr>
          <a:xfrm>
            <a:off x="6080760" y="286207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regained by the Jamuna; net loss still ≈ 79,000 ha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943600" y="3520440"/>
            <a:ext cx="2743200" cy="10515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 txBox="1"/>
          <p:nvPr/>
        </p:nvSpPr>
        <p:spPr>
          <a:xfrm>
            <a:off x="6080760" y="361188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~1,000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6080760" y="4050792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displaced for every km² lost (researcher estimate)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 txBox="1"/>
          <p:nvPr/>
        </p:nvSpPr>
        <p:spPr>
          <a:xfrm>
            <a:off x="457200" y="481888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>
            <p:ph idx="4294967295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single number: annual land-loss estimates differ ~10×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" name="Google Shape;71;p4"/>
          <p:cNvGraphicFramePr/>
          <p:nvPr/>
        </p:nvGraphicFramePr>
        <p:xfrm>
          <a:off x="457200" y="1051560"/>
          <a:ext cx="5212080" cy="361188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72" name="Google Shape;72;p4"/>
          <p:cNvSpPr/>
          <p:nvPr/>
        </p:nvSpPr>
        <p:spPr>
          <a:xfrm>
            <a:off x="5943600" y="1143000"/>
            <a:ext cx="2743200" cy="342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6126480" y="12801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6126480" y="1737360"/>
            <a:ext cx="2423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agency keeps a systematic record of erosion losses, so figures disagree.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Jamuna’s rate fell from ~5,000 ha/yr (1980s) to ~1,500, yet villages still lose homes in minutes.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Regional averages cannot warn one village bank: it needs its own sensor stream.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457200" y="481888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>
            <p:ph idx="4294967295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Current practice: valuable, but regional or reactive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57200" y="1143000"/>
            <a:ext cx="4023360" cy="123444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640080" y="12527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(a) Water-level gauge stations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640080" y="161848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Regional river level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Limit: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describe bank condition at a village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663440" y="1143000"/>
            <a:ext cx="4023360" cy="123444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 txBox="1"/>
          <p:nvPr/>
        </p:nvSpPr>
        <p:spPr>
          <a:xfrm>
            <a:off x="4846320" y="12527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(b) Manual field inspection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4846320" y="161848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observation by people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Limit: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watch every bank continuously; subjective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57200" y="2514600"/>
            <a:ext cx="4023360" cy="123444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640080" y="26243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(c) Historical records and maps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640080" y="299008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erosion happened before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Limit: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Describes the past, not the next hours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663440" y="2514600"/>
            <a:ext cx="4023360" cy="123444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 txBox="1"/>
          <p:nvPr/>
        </p:nvSpPr>
        <p:spPr>
          <a:xfrm>
            <a:off x="4846320" y="26243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(d) Satellite imagery and GIS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/>
          <p:nvPr/>
        </p:nvSpPr>
        <p:spPr>
          <a:xfrm>
            <a:off x="4846320" y="2990088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Bank-line change over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Limit: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Delays of days or weeks; cannot warn within hours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457200" y="3931920"/>
            <a:ext cx="64008" cy="73152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777240" y="3950208"/>
            <a:ext cx="7772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gap: </a:t>
            </a:r>
            <a:r>
              <a:rPr b="0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 tool gives a small community a localized, automatic, forward-looking signal. ML exists for floods and remote sensing, but needs big data and rarely reaches one village bank.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457200" y="481888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>
            <p:ph idx="4294967295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Problem statement and why AI is needed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457200" y="1143000"/>
            <a:ext cx="41148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Four limitations today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 watching of every vulnerable location is not possible manually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Combining several indicators by eye is subjective and experience-dependent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systems describe the present and do not estimate erosion chance in coming hours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Warnings reach communities late, or not at all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846320" y="1143000"/>
            <a:ext cx="3840480" cy="123444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 txBox="1"/>
          <p:nvPr/>
        </p:nvSpPr>
        <p:spPr>
          <a:xfrm>
            <a:off x="5029200" y="1234440"/>
            <a:ext cx="3474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Today: human expert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Compares water level, rainfall and bank condition with memory of past events.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583680" y="2450592"/>
            <a:ext cx="365760" cy="36576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846320" y="2889504"/>
            <a:ext cx="3840480" cy="123444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2E7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 txBox="1"/>
          <p:nvPr/>
        </p:nvSpPr>
        <p:spPr>
          <a:xfrm>
            <a:off x="5029200" y="2980944"/>
            <a:ext cx="3474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With AI: supervised ML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indicator-to-erosion relationships from data and scores every new reading as a probability for the next time window.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Calibri"/>
              <a:buNone/>
            </a:pPr>
            <a:r>
              <a:rPr b="1" i="1" lang="en-US" sz="15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Affected: families, farmers, landowners, local authorities. Scope: risk prediction only, not exact location or land loss.</a:t>
            </a:r>
            <a:endParaRPr b="1" i="0" sz="15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457200" y="481888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 txBox="1"/>
          <p:nvPr>
            <p:ph idx="4294967295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Objectives and scope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1143000"/>
            <a:ext cx="4023360" cy="269748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663440" y="1143000"/>
            <a:ext cx="4023360" cy="269748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 scope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640080" y="1554480"/>
            <a:ext cx="36576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ESP32 sensing: water level, rainfall, soil moisture, tilt, vibration, temp, humidity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Wi-Fi transfer, server and database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Preprocessing and feature 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 risk prediction: Low / Medium / High / Critical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dashboard and LED + buzzer alert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comparison and feature importance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4846320" y="1234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 txBox="1"/>
          <p:nvPr/>
        </p:nvSpPr>
        <p:spPr>
          <a:xfrm>
            <a:off x="4846320" y="1554480"/>
            <a:ext cx="36576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Whole-river or multi-site deployment (one station only)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Building bank protection or controlling 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 erosion location or land-loss amount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Replacing official authorities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app, SMS, satellite deep learning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640080" y="4005072"/>
            <a:ext cx="7863840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General: </a:t>
            </a: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low-cost IoT + AI prototype that monitors bank conditions and warns of rising risk.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AI: </a:t>
            </a:r>
            <a:r>
              <a:rPr b="0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train and compare supervised models that output erosion probability for a future window.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457200" y="481888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 txBox="1"/>
          <p:nvPr>
            <p:ph idx="4294967295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Proposed solution: end-to-end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d/word/media/image1.png" id="137" name="Google Shape;137;p8"/>
          <p:cNvPicPr preferRelativeResize="0"/>
          <p:nvPr/>
        </p:nvPicPr>
        <p:blipFill rotWithShape="1">
          <a:blip r:embed="rId3">
            <a:alphaModFix/>
          </a:blip>
          <a:srcRect b="9551" l="0" r="0" t="0"/>
          <a:stretch/>
        </p:blipFill>
        <p:spPr>
          <a:xfrm>
            <a:off x="914400" y="1005849"/>
            <a:ext cx="7315200" cy="316752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914400" y="454456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 txBox="1"/>
          <p:nvPr>
            <p:ph idx="4294967295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Layered system 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57200" y="1097280"/>
            <a:ext cx="2377440" cy="603504"/>
          </a:xfrm>
          <a:prstGeom prst="rect">
            <a:avLst/>
          </a:prstGeom>
          <a:solidFill>
            <a:srgbClr val="1F3A5F"/>
          </a:solidFill>
          <a:ln cap="flat" cmpd="sng" w="952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 txBox="1"/>
          <p:nvPr/>
        </p:nvSpPr>
        <p:spPr>
          <a:xfrm>
            <a:off x="640080" y="1097280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 Sensing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2834640" y="1097280"/>
            <a:ext cx="5852160" cy="603504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3017520" y="1097280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Sensors + ESP32 read conditions every few minutes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457200" y="1810512"/>
            <a:ext cx="2377440" cy="603504"/>
          </a:xfrm>
          <a:prstGeom prst="rect">
            <a:avLst/>
          </a:prstGeom>
          <a:solidFill>
            <a:srgbClr val="1F3A5F"/>
          </a:solidFill>
          <a:ln cap="flat" cmpd="sng" w="952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 txBox="1"/>
          <p:nvPr/>
        </p:nvSpPr>
        <p:spPr>
          <a:xfrm>
            <a:off x="640080" y="1810512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  Communication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2834640" y="1810512"/>
            <a:ext cx="5852160" cy="603504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 txBox="1"/>
          <p:nvPr/>
        </p:nvSpPr>
        <p:spPr>
          <a:xfrm>
            <a:off x="3017520" y="1810512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Wi-Fi + REST API (FastAPI), API-key protected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457200" y="2523744"/>
            <a:ext cx="2377440" cy="603504"/>
          </a:xfrm>
          <a:prstGeom prst="rect">
            <a:avLst/>
          </a:prstGeom>
          <a:solidFill>
            <a:srgbClr val="1F3A5F"/>
          </a:solidFill>
          <a:ln cap="flat" cmpd="sng" w="952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 txBox="1"/>
          <p:nvPr/>
        </p:nvSpPr>
        <p:spPr>
          <a:xfrm>
            <a:off x="640080" y="2523744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 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2834640" y="2523744"/>
            <a:ext cx="5852160" cy="603504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3017520" y="2523744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MySQL: readings, history, station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57200" y="3236976"/>
            <a:ext cx="2377440" cy="603504"/>
          </a:xfrm>
          <a:prstGeom prst="rect">
            <a:avLst/>
          </a:prstGeom>
          <a:solidFill>
            <a:srgbClr val="2E7D7A"/>
          </a:solidFill>
          <a:ln cap="flat" cmpd="sng" w="9525">
            <a:solidFill>
              <a:srgbClr val="2E7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640080" y="3236976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  Intelligence (AI)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2834640" y="3236976"/>
            <a:ext cx="5852160" cy="603504"/>
          </a:xfrm>
          <a:prstGeom prst="rect">
            <a:avLst/>
          </a:prstGeom>
          <a:solidFill>
            <a:srgbClr val="E6F1F0"/>
          </a:solidFill>
          <a:ln cap="flat" cmpd="sng" w="9525">
            <a:solidFill>
              <a:srgbClr val="E6F1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3017520" y="3236976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Cleaning, features (water-level change, accumulated rainfall), ML model, risk level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57200" y="3950208"/>
            <a:ext cx="2377440" cy="603504"/>
          </a:xfrm>
          <a:prstGeom prst="rect">
            <a:avLst/>
          </a:prstGeom>
          <a:solidFill>
            <a:srgbClr val="1F3A5F"/>
          </a:solidFill>
          <a:ln cap="flat" cmpd="sng" w="952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 txBox="1"/>
          <p:nvPr/>
        </p:nvSpPr>
        <p:spPr>
          <a:xfrm>
            <a:off x="640080" y="3950208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 Presentation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2834640" y="3950208"/>
            <a:ext cx="5852160" cy="603504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3017520" y="3950208"/>
            <a:ext cx="5486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dashboard (live, trends, map) + LED/buzzer alert unit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 txBox="1"/>
          <p:nvPr/>
        </p:nvSpPr>
        <p:spPr>
          <a:xfrm>
            <a:off x="457200" y="481888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>
            <p:ph idx="4294967295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Hardware sensing node and technology stack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57200" y="1143000"/>
            <a:ext cx="1938528" cy="114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 txBox="1"/>
          <p:nvPr/>
        </p:nvSpPr>
        <p:spPr>
          <a:xfrm>
            <a:off x="594360" y="128016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ESP32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594360" y="17830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Wi-Fi microcontroller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2578608" y="1143000"/>
            <a:ext cx="1938528" cy="114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2715768" y="128016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JSN-SR04T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2715768" y="17830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Waterproof ultrasonic: water level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700016" y="1143000"/>
            <a:ext cx="1938528" cy="114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 txBox="1"/>
          <p:nvPr/>
        </p:nvSpPr>
        <p:spPr>
          <a:xfrm>
            <a:off x="4837176" y="128016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Rain sensor / tipping bucket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4837176" y="17830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Rainfall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821424" y="1143000"/>
            <a:ext cx="1938528" cy="114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6958584" y="128016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Soil-moisture sensor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6958584" y="17830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Soil moisture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57200" y="2423160"/>
            <a:ext cx="1938528" cy="114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594360" y="256032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MPU6050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594360" y="30632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 tilt and vibration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2578608" y="2423160"/>
            <a:ext cx="1938528" cy="114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2715768" y="256032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DHT22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2715768" y="30632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 and humidity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700016" y="2423160"/>
            <a:ext cx="1938528" cy="114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 txBox="1"/>
          <p:nvPr/>
        </p:nvSpPr>
        <p:spPr>
          <a:xfrm>
            <a:off x="4837176" y="256032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LEDs + buzzer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4837176" y="30632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risk alert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821424" y="2423160"/>
            <a:ext cx="1938528" cy="114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 txBox="1"/>
          <p:nvPr/>
        </p:nvSpPr>
        <p:spPr>
          <a:xfrm>
            <a:off x="6958584" y="2560320"/>
            <a:ext cx="1691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Power bank + enclosure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6958584" y="30632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Field power and housing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Software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Python • C/C++ (Arduino) • FastAPI • MySQL • Pandas, NumPy, Scikit-learn, XGBoost • Chart.js • OpenStreetMap • Git/GitHub. Own models only; no external LLM API.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457200" y="481888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 txBox="1"/>
          <p:nvPr>
            <p:ph idx="4294967295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 approach: from sensor data to risk level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457200" y="1143000"/>
            <a:ext cx="1499616" cy="128016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 txBox="1"/>
          <p:nvPr/>
        </p:nvSpPr>
        <p:spPr>
          <a:xfrm>
            <a:off x="566928" y="121615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 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566928" y="1554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Historical labeled records + sensor readings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2139696" y="1143000"/>
            <a:ext cx="1499616" cy="128016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2249424" y="121615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 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2249424" y="1554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Water-level change, accumulated rainfall, soil moisture, tilt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3822192" y="1143000"/>
            <a:ext cx="1499616" cy="128016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 txBox="1"/>
          <p:nvPr/>
        </p:nvSpPr>
        <p:spPr>
          <a:xfrm>
            <a:off x="3931920" y="121615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  Train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3931920" y="1554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models, chronological split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5504688" y="1143000"/>
            <a:ext cx="1499616" cy="128016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 txBox="1"/>
          <p:nvPr/>
        </p:nvSpPr>
        <p:spPr>
          <a:xfrm>
            <a:off x="5614416" y="121615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  Evaluate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5614416" y="1554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Accuracy, Precision, Recall, F1, ROC-AUC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7187184" y="1143000"/>
            <a:ext cx="1499616" cy="1280160"/>
          </a:xfrm>
          <a:prstGeom prst="rect">
            <a:avLst/>
          </a:prstGeom>
          <a:solidFill>
            <a:srgbClr val="2E7D7A"/>
          </a:solidFill>
          <a:ln cap="flat" cmpd="sng" w="9525">
            <a:solidFill>
              <a:srgbClr val="2E7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 txBox="1"/>
          <p:nvPr/>
        </p:nvSpPr>
        <p:spPr>
          <a:xfrm>
            <a:off x="7296912" y="1216152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 Predict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7296912" y="1554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Probability to risk level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457200" y="26060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Candidate models (compared on a time-ordered test set)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57200" y="2898648"/>
            <a:ext cx="1938528" cy="38404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 txBox="1"/>
          <p:nvPr/>
        </p:nvSpPr>
        <p:spPr>
          <a:xfrm>
            <a:off x="457200" y="2898648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Logistic Regression (baseline)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2578608" y="2898648"/>
            <a:ext cx="1938528" cy="38404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2578608" y="2898648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4700016" y="2898648"/>
            <a:ext cx="1938528" cy="38404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 txBox="1"/>
          <p:nvPr/>
        </p:nvSpPr>
        <p:spPr>
          <a:xfrm>
            <a:off x="4700016" y="2898648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821424" y="2898648"/>
            <a:ext cx="1938528" cy="38404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 txBox="1"/>
          <p:nvPr/>
        </p:nvSpPr>
        <p:spPr>
          <a:xfrm>
            <a:off x="6821424" y="2898648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SVM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457200" y="34564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Risk levels (thresholds chosen on validation data)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457200" y="3749040"/>
            <a:ext cx="2057400" cy="384048"/>
          </a:xfrm>
          <a:prstGeom prst="rect">
            <a:avLst/>
          </a:prstGeom>
          <a:solidFill>
            <a:srgbClr val="6BA38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457200" y="374904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2514600" y="3749040"/>
            <a:ext cx="2057400" cy="384048"/>
          </a:xfrm>
          <a:prstGeom prst="rect">
            <a:avLst/>
          </a:prstGeom>
          <a:solidFill>
            <a:srgbClr val="D9B26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2514600" y="374904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4572000" y="3749040"/>
            <a:ext cx="2057400" cy="384048"/>
          </a:xfrm>
          <a:prstGeom prst="rect">
            <a:avLst/>
          </a:prstGeom>
          <a:solidFill>
            <a:srgbClr val="D88A5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4572000" y="374904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6629400" y="3749040"/>
            <a:ext cx="2057400" cy="384048"/>
          </a:xfrm>
          <a:prstGeom prst="rect">
            <a:avLst/>
          </a:prstGeom>
          <a:solidFill>
            <a:srgbClr val="B8573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 txBox="1"/>
          <p:nvPr/>
        </p:nvSpPr>
        <p:spPr>
          <a:xfrm>
            <a:off x="6629400" y="374904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 + buzzer trigger at High/Critical only when it persists over consecutive predictions.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457200" y="481888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>
            <p:ph idx="4294967295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Requirements at a glance: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4754875" y="1427725"/>
            <a:ext cx="3931800" cy="3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Model Training:</a:t>
            </a:r>
            <a:r>
              <a:rPr lang="en-US" sz="1100"/>
              <a:t> Train supervised ML models on historical labeled data.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Data Leakage Prevention:</a:t>
            </a:r>
            <a:r>
              <a:rPr lang="en-US" sz="1100"/>
              <a:t> Apply chronological train/test splitting.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Risk Prediction:</a:t>
            </a:r>
            <a:r>
              <a:rPr lang="en-US" sz="1100"/>
              <a:t> Generate erosion probability (0–100%) for future time windows.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Risk Classification:</a:t>
            </a:r>
            <a:r>
              <a:rPr lang="en-US" sz="1100"/>
              <a:t> Map probabilities into Low, Medium, High, or Critical risk.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False Alarm Prevention:</a:t>
            </a:r>
            <a:r>
              <a:rPr lang="en-US" sz="1100"/>
              <a:t> Trigger warnings only when high risk persists over consecutive predictions.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Model Evaluation:</a:t>
            </a:r>
            <a:r>
              <a:rPr lang="en-US" sz="1100"/>
              <a:t> Evaluate candidate models (XGBoost, Random Forest, Logistic Regression) on test data.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Explainability:</a:t>
            </a:r>
            <a:r>
              <a:rPr lang="en-US" sz="1100"/>
              <a:t> Display the most influential input features on the dashboard.</a:t>
            </a:r>
            <a:endParaRPr sz="1100"/>
          </a:p>
          <a:p>
            <a:pPr indent="0" lvl="0" marL="45720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 txBox="1"/>
          <p:nvPr/>
        </p:nvSpPr>
        <p:spPr>
          <a:xfrm>
            <a:off x="457200" y="481888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 txBox="1"/>
          <p:nvPr>
            <p:ph idx="4294967295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219650" y="1299625"/>
            <a:ext cx="3843900" cy="30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Sensor Data Collection:</a:t>
            </a:r>
            <a:r>
              <a:rPr lang="en-US" sz="1100"/>
              <a:t> Read water level, rainfall, soil moisture, tilt, vibration, temp, and humidity via ESP32.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Data Transmission:</a:t>
            </a:r>
            <a:r>
              <a:rPr lang="en-US" sz="1100"/>
              <a:t> Send readings to server over Wi-Fi with timestamps.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Storage &amp; Cleanup:</a:t>
            </a:r>
            <a:r>
              <a:rPr lang="en-US" sz="1100"/>
              <a:t> Store readings in a database and handle invalid/missing data.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Feature Engineering:</a:t>
            </a:r>
            <a:r>
              <a:rPr lang="en-US" sz="1100"/>
              <a:t> Calculate water level changes and accumulated rainfall.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Web Dashboard:</a:t>
            </a:r>
            <a:r>
              <a:rPr lang="en-US" sz="1100"/>
              <a:t> Display live readings, historical trends, and station status.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Hardware Alert:</a:t>
            </a:r>
            <a:r>
              <a:rPr lang="en-US" sz="1100"/>
              <a:t> Trigger LEDs and a buzzer for High or Critical risk levels.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/>
              <a:t>Security:</a:t>
            </a:r>
            <a:r>
              <a:rPr lang="en-US" sz="1100"/>
              <a:t> Use dashboard login authentication and API keys for sensor data submission.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6-week work plan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457200" y="10058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Milestone and main tasks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6629400" y="10058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Deliverable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4160520" y="100584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4544568" y="100584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4928616" y="100584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5312664" y="100584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 txBox="1"/>
          <p:nvPr/>
        </p:nvSpPr>
        <p:spPr>
          <a:xfrm>
            <a:off x="5696712" y="100584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 txBox="1"/>
          <p:nvPr/>
        </p:nvSpPr>
        <p:spPr>
          <a:xfrm>
            <a:off x="6080760" y="1005840"/>
            <a:ext cx="384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3"/>
          <p:cNvCxnSpPr/>
          <p:nvPr/>
        </p:nvCxnSpPr>
        <p:spPr>
          <a:xfrm>
            <a:off x="457200" y="1307592"/>
            <a:ext cx="8229600" cy="0"/>
          </a:xfrm>
          <a:prstGeom prst="straightConnector1">
            <a:avLst/>
          </a:prstGeom>
          <a:noFill/>
          <a:ln cap="flat" cmpd="sng" w="15875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9" name="Google Shape;269;p13"/>
          <p:cNvCxnSpPr/>
          <p:nvPr/>
        </p:nvCxnSpPr>
        <p:spPr>
          <a:xfrm>
            <a:off x="4160520" y="1307592"/>
            <a:ext cx="0" cy="3337560"/>
          </a:xfrm>
          <a:prstGeom prst="straightConnector1">
            <a:avLst/>
          </a:prstGeom>
          <a:noFill/>
          <a:ln cap="flat" cmpd="sng" w="9525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13"/>
          <p:cNvCxnSpPr/>
          <p:nvPr/>
        </p:nvCxnSpPr>
        <p:spPr>
          <a:xfrm>
            <a:off x="4544568" y="1307592"/>
            <a:ext cx="0" cy="3337560"/>
          </a:xfrm>
          <a:prstGeom prst="straightConnector1">
            <a:avLst/>
          </a:prstGeom>
          <a:noFill/>
          <a:ln cap="flat" cmpd="sng" w="9525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13"/>
          <p:cNvCxnSpPr/>
          <p:nvPr/>
        </p:nvCxnSpPr>
        <p:spPr>
          <a:xfrm>
            <a:off x="4928616" y="1307592"/>
            <a:ext cx="0" cy="3337560"/>
          </a:xfrm>
          <a:prstGeom prst="straightConnector1">
            <a:avLst/>
          </a:prstGeom>
          <a:noFill/>
          <a:ln cap="flat" cmpd="sng" w="9525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13"/>
          <p:cNvCxnSpPr/>
          <p:nvPr/>
        </p:nvCxnSpPr>
        <p:spPr>
          <a:xfrm>
            <a:off x="5312664" y="1307592"/>
            <a:ext cx="0" cy="3337560"/>
          </a:xfrm>
          <a:prstGeom prst="straightConnector1">
            <a:avLst/>
          </a:prstGeom>
          <a:noFill/>
          <a:ln cap="flat" cmpd="sng" w="9525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13"/>
          <p:cNvCxnSpPr/>
          <p:nvPr/>
        </p:nvCxnSpPr>
        <p:spPr>
          <a:xfrm>
            <a:off x="5696712" y="1307592"/>
            <a:ext cx="0" cy="3337560"/>
          </a:xfrm>
          <a:prstGeom prst="straightConnector1">
            <a:avLst/>
          </a:prstGeom>
          <a:noFill/>
          <a:ln cap="flat" cmpd="sng" w="9525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4" name="Google Shape;274;p13"/>
          <p:cNvCxnSpPr/>
          <p:nvPr/>
        </p:nvCxnSpPr>
        <p:spPr>
          <a:xfrm>
            <a:off x="6080760" y="1307592"/>
            <a:ext cx="0" cy="3337560"/>
          </a:xfrm>
          <a:prstGeom prst="straightConnector1">
            <a:avLst/>
          </a:prstGeom>
          <a:noFill/>
          <a:ln cap="flat" cmpd="sng" w="9525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5" name="Google Shape;275;p13"/>
          <p:cNvCxnSpPr/>
          <p:nvPr/>
        </p:nvCxnSpPr>
        <p:spPr>
          <a:xfrm>
            <a:off x="6464808" y="1307592"/>
            <a:ext cx="0" cy="3337560"/>
          </a:xfrm>
          <a:prstGeom prst="straightConnector1">
            <a:avLst/>
          </a:prstGeom>
          <a:noFill/>
          <a:ln cap="flat" cmpd="sng" w="9525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13"/>
          <p:cNvSpPr txBox="1"/>
          <p:nvPr/>
        </p:nvSpPr>
        <p:spPr>
          <a:xfrm>
            <a:off x="457200" y="14081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868680" y="1371600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Requirements, literature and data-source study; define labels and prediction window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4197096" y="1463040"/>
            <a:ext cx="310896" cy="274320"/>
          </a:xfrm>
          <a:prstGeom prst="roundRect">
            <a:avLst>
              <a:gd fmla="val 13333" name="adj"/>
            </a:avLst>
          </a:prstGeom>
          <a:solidFill>
            <a:srgbClr val="1F3A5F"/>
          </a:solidFill>
          <a:ln cap="flat" cmpd="sng" w="1270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6537960" y="1517904"/>
            <a:ext cx="164592" cy="16459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 txBox="1"/>
          <p:nvPr/>
        </p:nvSpPr>
        <p:spPr>
          <a:xfrm>
            <a:off x="6922008" y="137160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 and data 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13"/>
          <p:cNvCxnSpPr/>
          <p:nvPr/>
        </p:nvCxnSpPr>
        <p:spPr>
          <a:xfrm>
            <a:off x="457200" y="187452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p13"/>
          <p:cNvSpPr txBox="1"/>
          <p:nvPr/>
        </p:nvSpPr>
        <p:spPr>
          <a:xfrm>
            <a:off x="457200" y="195681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868680" y="1920240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Data and IoT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and clean historical data; assemble ESP32 and sensors; test readings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581144" y="2011680"/>
            <a:ext cx="310896" cy="274320"/>
          </a:xfrm>
          <a:prstGeom prst="roundRect">
            <a:avLst>
              <a:gd fmla="val 13333" name="adj"/>
            </a:avLst>
          </a:prstGeom>
          <a:solidFill>
            <a:srgbClr val="1F3A5F"/>
          </a:solidFill>
          <a:ln cap="flat" cmpd="sng" w="1270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6537960" y="2066544"/>
            <a:ext cx="164592" cy="16459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 txBox="1"/>
          <p:nvPr/>
        </p:nvSpPr>
        <p:spPr>
          <a:xfrm>
            <a:off x="6922008" y="192024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dataset, IoT prototype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13"/>
          <p:cNvCxnSpPr/>
          <p:nvPr/>
        </p:nvCxnSpPr>
        <p:spPr>
          <a:xfrm>
            <a:off x="457200" y="242316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13"/>
          <p:cNvSpPr txBox="1"/>
          <p:nvPr/>
        </p:nvSpPr>
        <p:spPr>
          <a:xfrm>
            <a:off x="457200" y="25054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 txBox="1"/>
          <p:nvPr/>
        </p:nvSpPr>
        <p:spPr>
          <a:xfrm>
            <a:off x="868680" y="2468880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schema, REST API, feature engineering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4965192" y="2560320"/>
            <a:ext cx="310896" cy="274320"/>
          </a:xfrm>
          <a:prstGeom prst="roundRect">
            <a:avLst>
              <a:gd fmla="val 13333" name="adj"/>
            </a:avLst>
          </a:prstGeom>
          <a:solidFill>
            <a:srgbClr val="1F3A5F"/>
          </a:solidFill>
          <a:ln cap="flat" cmpd="sng" w="1270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6537960" y="2615184"/>
            <a:ext cx="164592" cy="16459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 txBox="1"/>
          <p:nvPr/>
        </p:nvSpPr>
        <p:spPr>
          <a:xfrm>
            <a:off x="6922008" y="246888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backend, processed dataset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13"/>
          <p:cNvCxnSpPr/>
          <p:nvPr/>
        </p:nvCxnSpPr>
        <p:spPr>
          <a:xfrm>
            <a:off x="457200" y="297180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13"/>
          <p:cNvSpPr txBox="1"/>
          <p:nvPr/>
        </p:nvSpPr>
        <p:spPr>
          <a:xfrm>
            <a:off x="457200" y="305409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M4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868680" y="3017520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ML model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 and compare models; time-based evaluation; feature importance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5349240" y="3108960"/>
            <a:ext cx="310896" cy="274320"/>
          </a:xfrm>
          <a:prstGeom prst="roundRect">
            <a:avLst>
              <a:gd fmla="val 13333" name="adj"/>
            </a:avLst>
          </a:prstGeom>
          <a:solidFill>
            <a:srgbClr val="2E7D7A"/>
          </a:solidFill>
          <a:ln cap="flat" cmpd="sng" w="12700">
            <a:solidFill>
              <a:srgbClr val="2E7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6537960" y="3163824"/>
            <a:ext cx="164592" cy="16459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2E7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 txBox="1"/>
          <p:nvPr/>
        </p:nvSpPr>
        <p:spPr>
          <a:xfrm>
            <a:off x="6922008" y="301752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 model, evaluation results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13"/>
          <p:cNvCxnSpPr/>
          <p:nvPr/>
        </p:nvCxnSpPr>
        <p:spPr>
          <a:xfrm>
            <a:off x="457200" y="352044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3"/>
          <p:cNvSpPr txBox="1"/>
          <p:nvPr/>
        </p:nvSpPr>
        <p:spPr>
          <a:xfrm>
            <a:off x="457200" y="360273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 txBox="1"/>
          <p:nvPr/>
        </p:nvSpPr>
        <p:spPr>
          <a:xfrm>
            <a:off x="868680" y="3566160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Integration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Dashboard; connect ESP32, backend and model; alert unit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5733288" y="3657600"/>
            <a:ext cx="310896" cy="274320"/>
          </a:xfrm>
          <a:prstGeom prst="roundRect">
            <a:avLst>
              <a:gd fmla="val 13333" name="adj"/>
            </a:avLst>
          </a:prstGeom>
          <a:solidFill>
            <a:srgbClr val="1F3A5F"/>
          </a:solidFill>
          <a:ln cap="flat" cmpd="sng" w="1270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6537960" y="3712464"/>
            <a:ext cx="164592" cy="16459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 txBox="1"/>
          <p:nvPr/>
        </p:nvSpPr>
        <p:spPr>
          <a:xfrm>
            <a:off x="6922008" y="356616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Integrated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3"/>
          <p:cNvCxnSpPr/>
          <p:nvPr/>
        </p:nvCxnSpPr>
        <p:spPr>
          <a:xfrm>
            <a:off x="457200" y="406908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E8EC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3"/>
          <p:cNvSpPr txBox="1"/>
          <p:nvPr/>
        </p:nvSpPr>
        <p:spPr>
          <a:xfrm>
            <a:off x="457200" y="41513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 txBox="1"/>
          <p:nvPr/>
        </p:nvSpPr>
        <p:spPr>
          <a:xfrm>
            <a:off x="868680" y="4114800"/>
            <a:ext cx="3200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Testing and finalization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and model testing, bug fixes, report,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6117336" y="4206240"/>
            <a:ext cx="310896" cy="274320"/>
          </a:xfrm>
          <a:prstGeom prst="roundRect">
            <a:avLst>
              <a:gd fmla="val 13333" name="adj"/>
            </a:avLst>
          </a:prstGeom>
          <a:solidFill>
            <a:srgbClr val="1F3A5F"/>
          </a:solidFill>
          <a:ln cap="flat" cmpd="sng" w="1270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6537960" y="4261104"/>
            <a:ext cx="164592" cy="164592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rgbClr val="1F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 txBox="1"/>
          <p:nvPr/>
        </p:nvSpPr>
        <p:spPr>
          <a:xfrm>
            <a:off x="6922008" y="4114800"/>
            <a:ext cx="1737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prototype, report, presentation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/>
          <p:nvPr/>
        </p:nvSpPr>
        <p:spPr>
          <a:xfrm>
            <a:off x="457200" y="4754880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One milestone per week, team of 3. Teal = AI core (model training and evaluation).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 txBox="1"/>
          <p:nvPr>
            <p:ph idx="4294967295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Risks and future work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457200" y="1143000"/>
            <a:ext cx="4023360" cy="34747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4663440" y="1143000"/>
            <a:ext cx="4023360" cy="34747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D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 txBox="1"/>
          <p:nvPr/>
        </p:nvSpPr>
        <p:spPr>
          <a:xfrm>
            <a:off x="640080" y="1280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Main risk: labeled 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640080" y="1691640"/>
            <a:ext cx="3657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Supervised ML needs past erosion and non-erosion examples linked to conditions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step: confirm what labeled data exists (public hydrological records, erosion reports)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labels are limited, any simulated or proxy data is clearly marked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accuracy is claimed until real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4846320" y="1691640"/>
            <a:ext cx="3657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stations, LoRa/LoRaWAN long range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flow-velocity and rainfall sensors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Satellite-image erosion detection and GIS mapping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learning once enough time-series data exists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app, SMS alerts, official platform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Field validation across rivers; river-specific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457200" y="481888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Source: project proposal, section 5.3 and Risks and Assumptions.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>
            <p:ph idx="4294967295" type="sldNum"/>
          </p:nvPr>
        </p:nvSpPr>
        <p:spPr>
          <a:xfrm>
            <a:off x="8321040" y="48006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">
  <a:themeElements>
    <a:clrScheme name="Minimal">
      <a:dk1>
        <a:srgbClr val="222B33"/>
      </a:dk1>
      <a:lt1>
        <a:srgbClr val="FFFFFF"/>
      </a:lt1>
      <a:dk2>
        <a:srgbClr val="1F3A5F"/>
      </a:dk2>
      <a:lt2>
        <a:srgbClr val="F3F5F7"/>
      </a:lt2>
      <a:accent1>
        <a:srgbClr val="2E7D7A"/>
      </a:accent1>
      <a:accent2>
        <a:srgbClr val="B8573E"/>
      </a:accent2>
      <a:accent3>
        <a:srgbClr val="8A97A3"/>
      </a:accent3>
      <a:accent4>
        <a:srgbClr val="5E7B99"/>
      </a:accent4>
      <a:accent5>
        <a:srgbClr val="8A97A3"/>
      </a:accent5>
      <a:accent6>
        <a:srgbClr val="A9B7C6"/>
      </a:accent6>
      <a:hlink>
        <a:srgbClr val="2E7D7A"/>
      </a:hlink>
      <a:folHlink>
        <a:srgbClr val="8A97A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">
  <a:themeElements>
    <a:clrScheme name="Minimal">
      <a:dk1>
        <a:srgbClr val="222B33"/>
      </a:dk1>
      <a:lt1>
        <a:srgbClr val="FFFFFF"/>
      </a:lt1>
      <a:dk2>
        <a:srgbClr val="1F3A5F"/>
      </a:dk2>
      <a:lt2>
        <a:srgbClr val="F3F5F7"/>
      </a:lt2>
      <a:accent1>
        <a:srgbClr val="2E7D7A"/>
      </a:accent1>
      <a:accent2>
        <a:srgbClr val="B8573E"/>
      </a:accent2>
      <a:accent3>
        <a:srgbClr val="8A97A3"/>
      </a:accent3>
      <a:accent4>
        <a:srgbClr val="5E7B99"/>
      </a:accent4>
      <a:accent5>
        <a:srgbClr val="8A97A3"/>
      </a:accent5>
      <a:accent6>
        <a:srgbClr val="A9B7C6"/>
      </a:accent6>
      <a:hlink>
        <a:srgbClr val="2E7D7A"/>
      </a:hlink>
      <a:folHlink>
        <a:srgbClr val="8A97A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2026-10-07T01:19:00Z</dcterms:created>
  <dc:creator>PptxGenJS</dc:creator>
</cp:coreProperties>
</file>